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13248" y="27432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pic>
        <p:nvPicPr>
          <p:cNvPr id="7" name="Image 0" descr="assets/logo_u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384048"/>
            <a:ext cx="768096" cy="11521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783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MATA KULIAH, PASCASARJANA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13055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 dalam Proses Pendidikan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457200" y="2999232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Kajian Ayat dan Manajemen Pengelolaannya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3593592"/>
            <a:ext cx="3636264" cy="2350008"/>
          </a:xfrm>
          <a:prstGeom prst="roundRect">
            <a:avLst>
              <a:gd name="adj" fmla="val 4669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666744"/>
            <a:ext cx="3453384" cy="22037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Penyaji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Akbar Tausiur Rido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276344" y="3593592"/>
            <a:ext cx="3636264" cy="2350008"/>
          </a:xfrm>
          <a:prstGeom prst="roundRect">
            <a:avLst>
              <a:gd name="adj" fmla="val 4669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67784" y="3666744"/>
            <a:ext cx="3453384" cy="22037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 Kuliah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 Manajemen Pendidikan Islam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095488" y="3593592"/>
            <a:ext cx="3636264" cy="2350008"/>
          </a:xfrm>
          <a:prstGeom prst="roundRect">
            <a:avLst>
              <a:gd name="adj" fmla="val 4669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86928" y="3666744"/>
            <a:ext cx="3453384" cy="22037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Dosen Pengampu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Cecep Anwar, M.Ag.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Islam Negeri Sunan Gunung Djati Bandung,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Guru: pewaris misi para nabi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636264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453384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Idealnya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 adalah waratsat al-anbiya, pewaris misi para nabi. Pendidikan membentuk karakter, menyucikan jiwa, dan mendewasakan moral, bukan sekadar memindahkan ilmu.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76344" y="1536192"/>
            <a:ext cx="3636264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7784" y="1609344"/>
            <a:ext cx="3453384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Realitasnya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Kualifikasi sering berhenti pada aspek administratif dan pengembangan bersifat parsial. Contoh lokal: sekitar 40 persen pendidik rutin mengikuti pelatihan.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95488" y="1536192"/>
            <a:ext cx="3636264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6928" y="1609344"/>
            <a:ext cx="3453384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Diagnosisnya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tidak hanya pada guru, tetapi pada cara lembaga mengelola guru.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Celah kajian: pemetaan fungsi kenabian ke kompetensi guru hingga siklus MSDM belum ada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DAN METODE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pertanyaan, satu kerangka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636264" cy="2112264"/>
          </a:xfrm>
          <a:prstGeom prst="roundRect">
            <a:avLst>
              <a:gd name="adj" fmla="val 5195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453384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Makna menurut mufasir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mufasir memaknai tilawah, tazkiyah, dan ta'lim al-kitab wa al-hikmah?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76344" y="1536192"/>
            <a:ext cx="3636264" cy="2112264"/>
          </a:xfrm>
          <a:prstGeom prst="roundRect">
            <a:avLst>
              <a:gd name="adj" fmla="val 5195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7784" y="1609344"/>
            <a:ext cx="3453384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ketiganya terpetakan pada empat kompetensi guru?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95488" y="1536192"/>
            <a:ext cx="3636264" cy="2112264"/>
          </a:xfrm>
          <a:prstGeom prst="roundRect">
            <a:avLst>
              <a:gd name="adj" fmla="val 5195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6928" y="1609344"/>
            <a:ext cx="3453384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Operasionalisasi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diturunkan ke manajemen SDM pendidik?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3636264" cy="2112264"/>
          </a:xfrm>
          <a:prstGeom prst="roundRect">
            <a:avLst>
              <a:gd name="adj" fmla="val 5195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04488"/>
            <a:ext cx="3453384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kitab tafsir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 klasik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Ath-Thabari dan Ibnu Katsir (kuat pada riwayat), Al-Qurthubi (perhatian pada hukum).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76344" y="3831336"/>
            <a:ext cx="3636264" cy="2112264"/>
          </a:xfrm>
          <a:prstGeom prst="roundRect">
            <a:avLst>
              <a:gd name="adj" fmla="val 5195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7784" y="3904488"/>
            <a:ext cx="3453384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kitab tafsir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 modern dan kontemporer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Al-Mishbah (Quraish Shihab), Al-Munir (Az-Zuhaili), Fi Zhilalil Quran (Sayyid Quthb).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Kualitatif, kajian kepustakaan, Tafsir maudhu'i dan muqaran, Empat ayat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AYAT 1, AYAT UTAMA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 Al-Jumu'ah [62]: 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هُوَ ٱلَّذِى بَعَثَ فِى ٱلْأُمِّيِّۦنَ رَسُولًا مِّنْهُمْ يَتْلُوا عَلَيْهِمْ ءَايَٰتِهِۦ وَيُزَكِّيهِمْ وَيُعَلِّمُهُمُ ٱلْكِتَٰبَ وَٱلْحِكْمَةَ وَإِن كَانُوا مِن قَبْلُ لَفِى ضَلَٰلٍ مُّبِينٍ</a:t>
            </a:r>
            <a:endParaRPr lang="ar-SA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770632"/>
            <a:ext cx="10360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“Dialah yang mengutus kepada kaum yang ummi seorang Rasul di antara mereka, yang membacakan ayat-ayat-Nya kepada mereka, menyucikan mereka, dan mengajarkan kepada mereka Kitab dan Hikmah, dan sesungguhnya mereka sebelumnya benar-benar dalam kesesatan yang nyata.”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5545836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76472"/>
            <a:ext cx="5362956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 Madaniyyah tanpa sabab nuzul khusus pada ayat ini (yang masyhur ada pada ayat 11). Dibaca lewat siyaq dan munasabah dengan doa Ibrahim.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85916" y="3703320"/>
            <a:ext cx="5545836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7356" y="3776472"/>
            <a:ext cx="5362956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Tilawah, lalu tazkiyah, lalu ta'lim Kitab dan Hikmah. Tujuannya keluar dari dhalalin mubin.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AYAT 2, PEMBANDING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 Al-Baqarah [2]: 151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كَمَآ أَرْسَلْنَا فِيكُمْ رَسُولًا مِّنكُمْ يَتْلُوا عَلَيْكُمْ ءَايَٰتِنَا وَيُزَكِّيكُمْ وَيُعَلِّمُكُمُ ٱلْكِتَٰبَ وَٱلْحِكْمَةَ وَيُعَلِّمُكُم مَّا لَمْ تَكُونُوا تَعْلَمُونَ</a:t>
            </a:r>
            <a:endParaRPr lang="ar-SA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770632"/>
            <a:ext cx="10360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“Sebagaimana (Kami telah menyempurnakan nikmat Kami kepadamu) Kami telah mengutus kepadamu Rasul di antara kamu yang membacakan ayat-ayat Kami kepada kamu dan menyucikan kamu dan mengajarkan kepadamu Al-Kitab dan Al-Hikmah, serta mengajarkan kepada kamu apa yang belum kamu ketahui.”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5545836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76472"/>
            <a:ext cx="5362956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 keempat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lam takunu ta'lamun: pendidikan membuka pengetahuan baru (Sumbulah dan Rafiq, 2026).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85916" y="3703320"/>
            <a:ext cx="5545836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7356" y="3776472"/>
            <a:ext cx="5362956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 guru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mengajar mencakup kesediaan terus belajar. Redaksi minkum berbicara langsung kepada pendengar.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AYAT 3, PEMBANDING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 Ali 'Imran [3]: 164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لَقَدْ مَنَّ ٱللَّهُ عَلَى ٱلْمُؤْمِنِينَ إِذْ بَعَثَ فِيهِمْ رَسُولًا مِّنْ أَنفُسِهِمْ يَتْلُوا عَلَيْهِمْ ءَايَٰتِهِۦ وَيُزَكِّيهِمْ وَيُعَلِّمُهُمُ ٱلْكِتَٰبَ وَٱلْحِكْمَةَ وَإِن كَانُوا مِن قَبْلُ لَفِى ضَلَٰلٍ مُّبِينٍ</a:t>
            </a:r>
            <a:endParaRPr lang="ar-SA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770632"/>
            <a:ext cx="10360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“Sungguh Allah telah memberi karunia kepada orang-orang yang beriman ketika Allah mengutus di antara mereka seorang rasul dari golongan mereka sendiri, yang membacakan kepada mereka ayat-ayat Allah, membersihkan (jiwa) mereka, dan mengajarkan kepada mereka Al-Kitab dan Al-Hikmah. Dan sesungguhnya sebelum (kedatangan Nabi) itu, mereka adalah benar-benar dalam kesesatan yang nyata.”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5545836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76472"/>
            <a:ext cx="5362956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Mufasir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Sayyid Quthb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Kehadiran Rasul sebagai pendidik adalah karunia terbesar bagi kaum beriman karena membebaskan mereka dari kesesatan nyata.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5916" y="3703320"/>
            <a:ext cx="5545836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7356" y="3776472"/>
            <a:ext cx="5362956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Bingkai manna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Profesi pendidik dipandang sebagai amanah bernilai ibadah (Basith dan Mubin, 2025).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AYAT 4, PEMBANDING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 Al-Baqarah [2]: 129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وَٱبْعَثْ فِيهِمْ رَسُولًا مِّنْهُمْ يَتْلُوا عَلَيْهِمْ ءَايَٰتِكَ وَيُعَلِّمُهُمُ ٱلْكِتَٰبَ وَٱلْحِكْمَةَ وَيُزَكِّيهِمْ ۚ إِنَّكَ أَنتَ ٱلْعَزِيزُ ٱلْحَكِيمُ</a:t>
            </a:r>
            <a:endParaRPr lang="ar-SA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770632"/>
            <a:ext cx="103601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“Ya Tuhan kami, utuslah di tengah mereka seorang rasul dari kalangan mereka, yang akan membacakan ayat-ayat-Mu kepada mereka, mengajarkan Kitab dan Hikmah kepada mereka, dan menyucikan mereka. Sungguh, Engkaulah Yang Maha Perkasa, Maha Bijaksana.”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5545836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76472"/>
            <a:ext cx="5362956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Mufasir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Al-Qurthubi, Ath-Thabari, Ibnu Katsir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 Nabi Ibrahim terkabul melalui pengutusan Nabi Muhammad saw.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5916" y="3703320"/>
            <a:ext cx="5545836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7356" y="3776472"/>
            <a:ext cx="5362956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Urutan berbeda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Ta'lim disebut sebelum tazkiyah karena isi permohonan sebagai kebutuhan dasar umat. Ditutup dengan Al-'Aziz Al-Hakim.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TAFSIR, KONTEKS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Al-Ummiyyin dan Dhalalin Mubin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Al-Qurthubi dan Ath-Thabari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Al-ummiyyin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Masyarakat Arab yang mayoritas tidak memiliki tradisi baca-tulis kitab suci sebelum Islam.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21558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2998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Sayyid Quthb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Pengutusan dari kalangan sendiri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Sejalan dengan doa Nabi Ibrahim, dan kehadiran Rasul adalah karunia terbesar.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5916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7356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Az-Zuhaili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Dhalalin mubin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Kesesatan nyata akibat krisis akidah dan kebodohan moral.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050274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1714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Quthb dan Az-Zuhaili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(ghayah)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Pembebasan manusia dari kesesatan nyata. Guru diukur dari perubahan murid.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TAFSIR, FUNGSI PERTAMA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Tilawah: membacakan dan menyampaikan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636264" cy="2112264"/>
          </a:xfrm>
          <a:prstGeom prst="roundRect">
            <a:avLst>
              <a:gd name="adj" fmla="val 5195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453384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Ibnu Katsir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Membacakan ayat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Membacakan ayat-ayat Al-Quran agar manusia mengenal wahyu Allah.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76344" y="1536192"/>
            <a:ext cx="3636264" cy="2112264"/>
          </a:xfrm>
          <a:prstGeom prst="roundRect">
            <a:avLst>
              <a:gd name="adj" fmla="val 5195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7784" y="1609344"/>
            <a:ext cx="3453384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Ath-Thabari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Tabligh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 penyampaian: komunikasi edukatif untuk menyampaikan kebenaran ilahi.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5488" y="1536192"/>
            <a:ext cx="3636264" cy="2112264"/>
          </a:xfrm>
          <a:prstGeom prst="roundRect">
            <a:avLst>
              <a:gd name="adj" fmla="val 5195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6928" y="1609344"/>
            <a:ext cx="3453384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Quraish Shihab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Ayat kauniyah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terbatas pada teks tertulis, mencakup pembacaan ayat-ayat alam semesta.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3636264" cy="2112264"/>
          </a:xfrm>
          <a:prstGeom prst="roundRect">
            <a:avLst>
              <a:gd name="adj" fmla="val 5195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04488"/>
            <a:ext cx="3453384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Sayyid Quthb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Pintu awal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Pemaparan materi yang otentik membuka kesadaran akidah peserta didik.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76344" y="3831336"/>
            <a:ext cx="3636264" cy="2112264"/>
          </a:xfrm>
          <a:prstGeom prst="roundRect">
            <a:avLst>
              <a:gd name="adj" fmla="val 5195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7784" y="3904488"/>
            <a:ext cx="3453384" cy="1965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Az-Zuhaili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Kesadaran rasional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Membangun nalar agar murid memikirkan penciptaan langit dan bumi.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Kompetensi guru: penyampaian yang akurat dan desain belajar yang memadukan ayat qauliyah dan kauniyah.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TAFSIR, FUNGSI KEDUA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Tazkiyah: menyucikan jiwa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Al-Qurthubi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Bersih dari kotoran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Membersihkan dari syirik, maksiat, dan penyakit hati menuju kesucian akhlak.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21558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2998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Az-Zuhaili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Bebas dari kejahilan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Pembebasan jiwa dari paganisme dan tradisi kejahilan.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5916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7356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Sayyid Quthb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Penyucian nurani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Dilakukan terus-menerus agar manusia memiliki kepekaan spiritual dan keluhuran moral.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050274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1714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Ibnu Katsir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Ketaatan dan budi pekerti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Sarana menumbuhkan ketaatan ibadah dan keluhuran budi pekerti.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Lembaga tidak menilai hati, tetapi memfasilitasi dan mengamati perilaku: jujur, disiplin, sabar, dan santun.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TAFSIR, FUNGSI KETIGA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Ta'lim: al-Kitab wa al-Hikmah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636264" cy="2295144"/>
          </a:xfrm>
          <a:prstGeom prst="roundRect">
            <a:avLst>
              <a:gd name="adj" fmla="val 4781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453384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Mayoritas mufasir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Kitab dan Hikmah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Al-Kitab adalah Al-Quran. Al-Hikmah adalah As-Sunnah, pemahaman agama yang mendalam, atau kebijaksanaan bertindak.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76344" y="1536192"/>
            <a:ext cx="3636264" cy="2295144"/>
          </a:xfrm>
          <a:prstGeom prst="roundRect">
            <a:avLst>
              <a:gd name="adj" fmla="val 4781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7784" y="1609344"/>
            <a:ext cx="3453384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Al-Qurthubi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Rahasia syariat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Pengajaran hikmah mencakup rahasia hukum syariat dan pembentukan kearifan berpikir murid.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5488" y="1536192"/>
            <a:ext cx="3636264" cy="2295144"/>
          </a:xfrm>
          <a:prstGeom prst="roundRect">
            <a:avLst>
              <a:gd name="adj" fmla="val 4781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6928" y="1609344"/>
            <a:ext cx="3453384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Ath-Thabari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Segala kebaikan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Hikmah meliputi kebaikan, pemahaman agama, dan ketepatan mengambil keputusan.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014216"/>
            <a:ext cx="3636264" cy="2295144"/>
          </a:xfrm>
          <a:prstGeom prst="roundRect">
            <a:avLst>
              <a:gd name="adj" fmla="val 4781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87368"/>
            <a:ext cx="3453384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Quraish Shihab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 dan aplikasi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Penguasaan ilmu teoretis sekaligus kemampuan menerapkannya secara bijaksana.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76344" y="4014216"/>
            <a:ext cx="3636264" cy="2295144"/>
          </a:xfrm>
          <a:prstGeom prst="roundRect">
            <a:avLst>
              <a:gd name="adj" fmla="val 4781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7784" y="4087368"/>
            <a:ext cx="3453384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Sayyid Quthb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Peradaban berilmu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pendidikan kenabian mengubah masyarakat jahiliah menjadi peradaban berilmu.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TEMUAN REDAKSIONAL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isyarat dari teks ayat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636264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453384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Urutan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Tazkiyah sebelum ta'lim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 tiga ayat, sedangkan doa Ibrahim (2:129) sebaliknya. MSDM: penyucian jiwa bukan pelengkap pelatihan.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76344" y="1536192"/>
            <a:ext cx="3636264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7784" y="1609344"/>
            <a:ext cx="3453384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mudhari'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Yatlu, yuzakki, yu'allimu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Menunjuk proses berulang. MSDM: pembinaan berkelanjutan.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5488" y="1536192"/>
            <a:ext cx="3636264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6928" y="1609344"/>
            <a:ext cx="3453384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Minhum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tengah kaumnya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 memahami konteks murid. MSDM: rekrutmen kontekstual tanpa nepotisme.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pembacaan interpretatif penulis, bukan kutipan mufasir.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fungsi kenabian pada empat kompetensi guru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Tilawah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Pedagogik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Kompetensi sekunder: Profesional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21558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2998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Tazkiyah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Kepribadian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Kompetensi sekunder: Sosial. Poros yang mengikat kompetensi lain.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85916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7356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Ta'lim al-Kitab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Profesional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Kompetensi sekunder: Pedagogik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050274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1714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Ta'lim al-Hikmah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Sosial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Kompetensi sekunder: Kepribadian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Keterampilan dan ilmu tanpa keteladanan kehilangan daya didik.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OPERASIONALISASI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fungsi manajemen SDM pendidik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636264" cy="2295144"/>
          </a:xfrm>
          <a:prstGeom prst="roundRect">
            <a:avLst>
              <a:gd name="adj" fmla="val 4781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453384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Perencanaan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kebutuhan berbasis empat kompetensi dan profil karakter calon.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76344" y="1536192"/>
            <a:ext cx="3636264" cy="2295144"/>
          </a:xfrm>
          <a:prstGeom prst="roundRect">
            <a:avLst>
              <a:gd name="adj" fmla="val 4781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7784" y="1609344"/>
            <a:ext cx="3453384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Rekrutmen dan seleksi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Syura, amanah, 'adalah, meritokrasi, uji baca Al-Quran, dan rubrik terbuka.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95488" y="1536192"/>
            <a:ext cx="3636264" cy="2295144"/>
          </a:xfrm>
          <a:prstGeom prst="roundRect">
            <a:avLst>
              <a:gd name="adj" fmla="val 4781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6928" y="1609344"/>
            <a:ext cx="3453384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Pembinaan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Halaqah ruhani, pelatihan digital, MGMP, dan mentoring guru senior.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014216"/>
            <a:ext cx="3636264" cy="2295144"/>
          </a:xfrm>
          <a:prstGeom prst="roundRect">
            <a:avLst>
              <a:gd name="adj" fmla="val 4781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87368"/>
            <a:ext cx="3453384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Penilaian kinerja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Multisumber dan muhasabah, hasilnya dipakai untuk pembinaan lebih dulu.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76344" y="4014216"/>
            <a:ext cx="3636264" cy="2295144"/>
          </a:xfrm>
          <a:prstGeom prst="roundRect">
            <a:avLst>
              <a:gd name="adj" fmla="val 4781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7784" y="4087368"/>
            <a:ext cx="3453384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Kompensasi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Adil sesuai beban dan kinerja, selaras dengan maqasid syariah.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TAHAPAN PENERAPAN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Bertahap, tidak sekaligus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praktik SDM dan petakan kesenjangan.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21558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2998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Perumusan standar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Susun profil kompetensi dan rubrik yang teramati.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5916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7356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terbatas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pada satu unit dan kumpulkan umpan balik.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050274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1714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Pelembagaan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Jadikan kebijakan tertulis dan tinjau setiap tahun.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Komitmen pimpinan, Guru terlibat (syura), Sumber daya jelas, Siap mengevaluasi kerangka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dan keterbatasan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Formalisme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Tazkiyah tereduksi menjadi daftar centang ibadah.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21558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2998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Subjektivitas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Penilaian akhlak tanpa umpan balik dan mekanisme keberatan.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85916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7356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Kesenjangan kapasitas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daya terbatas, sehingga penerapan dilakukan bertahap.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050274" y="1536192"/>
            <a:ext cx="2681478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1714" y="1609344"/>
            <a:ext cx="2498598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 kajian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Konseptual dan belum diuji empiris, pemetaan merupakan tafsiran penulis, dan terbatas pada empat ayat serta enam tafsir edisi terjemahan.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SIMPULAN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67512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kerangka, tiga lapis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636264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453384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 kenabian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tilawah, tazkiyah, ta'lim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76344" y="1536192"/>
            <a:ext cx="3636264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7784" y="1609344"/>
            <a:ext cx="3453384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Kompetensi guru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pedagogik, kepribadian, profesional, sosial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95488" y="1536192"/>
            <a:ext cx="3636264" cy="2468880"/>
          </a:xfrm>
          <a:prstGeom prst="roundRect">
            <a:avLst>
              <a:gd name="adj" fmla="val 4444"/>
            </a:avLst>
          </a:prstGeom>
          <a:solidFill>
            <a:srgbClr val="1D1D1F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6928" y="1609344"/>
            <a:ext cx="3453384" cy="23225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 MSDM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perencanaan, seleksi, pembinaan, penilaian, kompensasi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Integritas spiritual menjadi standar yang eksplisit dan teramati, dan perlu diuji secara empiris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3017520"/>
            <a:ext cx="640080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2D2D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UIN Sunan Gunung Djati Bandung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1735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Mohon arahan dan masukan, Bapak Dr. Cecep Anwar, M.Ag.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2026-09-30T03:10:17Z</dcterms:created>
  <dcterms:modified xsi:type="dcterms:W3CDTF">2026-09-30T03:10:17Z</dcterms:modified>
</cp:coreProperties>
</file>